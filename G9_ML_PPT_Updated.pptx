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A LEAKAGE-FREE PRE-DEPARTURE CLASSIFICATION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Flight Delay Prediction Using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38BDF8"/>
                </a:solidFill>
                <a:latin typeface="Arial"/>
              </a:defRPr>
            </a:pPr>
            <a:r>
              <a:t>Severe Delay Prediction (ARR_DELAY ≥ 45 min) with Zero Target Leakage &amp; Cloud Web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114800"/>
            <a:ext cx="10362895" cy="2011680"/>
          </a:xfrm>
          <a:prstGeom prst="roundRect">
            <a:avLst/>
          </a:prstGeom>
          <a:solidFill>
            <a:srgbClr val="141E3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297680"/>
            <a:ext cx="9784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Presented by: Bhavya Gupta, Arshia Bhandari, Kanishka Pandey</a:t>
            </a:r>
          </a:p>
          <a:p>
            <a:pPr>
              <a:defRPr sz="1400">
                <a:solidFill>
                  <a:srgbClr val="F59E0B"/>
                </a:solidFill>
                <a:latin typeface="Arial"/>
              </a:defRPr>
            </a:pPr>
            <a:r>
              <a:t>Guided by: Mr. Rahul Gupta</a:t>
            </a:r>
          </a:p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Department of Computer Science and Engineering, SRM Institute of Science and Technology</a:t>
            </a:r>
          </a:p>
          <a:p>
            <a:pPr>
              <a:defRPr sz="1200" b="1">
                <a:solidFill>
                  <a:srgbClr val="10B981"/>
                </a:solidFill>
                <a:latin typeface="Arial"/>
              </a:defRPr>
            </a:pPr>
            <a:r>
              <a:t>Production Web App Live: https://flight-delay-predictor-z2ik.onrender.com/ | GitHub: codewithkanishka01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Flight Delay Prediction | CSE, SRMIST</a:t>
            </a:r>
          </a:p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OPERATIONAL CONTEXT &amp; PROBLEM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Severe Flight Delay Formulation (ARR_DELAY ≥ 45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41E3C"/>
          </a:solidFill>
          <a:ln w="19050">
            <a:solidFill>
              <a:srgbClr val="2D4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Why the 45-Minute Critical Threshold?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F59E0B"/>
                </a:solidFill>
              </a:rPr>
              <a:t>• The 15-Minute FAA Ceiling: </a:t>
            </a:r>
            <a:r>
              <a:rPr sz="1300">
                <a:solidFill>
                  <a:srgbClr val="CBD5E1"/>
                </a:solidFill>
              </a:rPr>
              <a:t>Natural on-time baseline is 81.68%. At 15 min, pre-departure tabular features hit a natural 82% ceiling. Forcing 90% accuracy results in predicting zero delays (Recall = 0%).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59E0B"/>
                </a:solidFill>
              </a:rPr>
              <a:t>• Systemic Operational Collapse: </a:t>
            </a:r>
            <a:r>
              <a:rPr sz="1300">
                <a:solidFill>
                  <a:srgbClr val="CBD5E1"/>
                </a:solidFill>
              </a:rPr>
              <a:t>At 45 minutes, airline passenger connection banks break, crew duty hour limits expire, and FAA Ground Delay Programs trigger.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59E0B"/>
                </a:solidFill>
              </a:rPr>
              <a:t>• Natural Benchmark: </a:t>
            </a:r>
            <a:r>
              <a:rPr sz="1300">
                <a:solidFill>
                  <a:srgbClr val="CBD5E1"/>
                </a:solidFill>
              </a:rPr>
              <a:t>In BTS records, 91.78% of completed flights are on-time/minor delay (&lt;45m) and 8.22% experience severe delays. Models surpass 91.8%+ accuracy legitimately across all flights.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41E3C"/>
          </a:solidFill>
          <a:ln w="19050">
            <a:solidFill>
              <a:srgbClr val="2D4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Core Research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300">
                <a:solidFill>
                  <a:srgbClr val="38BDF8"/>
                </a:solidFill>
              </a:rPr>
              <a:t>1. Strict Zero Target Leakage: </a:t>
            </a:r>
            <a:r>
              <a:rPr sz="1300">
                <a:solidFill>
                  <a:srgbClr val="CBD5E1"/>
                </a:solidFill>
              </a:rPr>
              <a:t>Permanently exclude all post-departure runtime variables (e.g., actual departure delay, taxi-out, airborne time) to ensure genuine pre-boarding predictive capability.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38BDF8"/>
                </a:solidFill>
              </a:rPr>
              <a:t>2. Overcome Extreme Class Imbalance: </a:t>
            </a:r>
            <a:r>
              <a:rPr sz="1300">
                <a:solidFill>
                  <a:srgbClr val="CBD5E1"/>
                </a:solidFill>
              </a:rPr>
              <a:t>Formulate cost-sensitive thresholds and advanced ensemble methods to detect the critical 8.22% severe delay events without majority-class collapse.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38BDF8"/>
                </a:solidFill>
              </a:rPr>
              <a:t>3. End-to-End Production Deployment: </a:t>
            </a:r>
            <a:r>
              <a:rPr sz="1300">
                <a:solidFill>
                  <a:srgbClr val="CBD5E1"/>
                </a:solidFill>
              </a:rPr>
              <a:t>Bridge the gap between academic model training and real-world utility by serving live inferences via a cloud-hosted web application.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Flight Delay Prediction | CSE, SRMIST</a:t>
            </a:r>
          </a:p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DATASET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BTS 3-Million Flight Pipeline &amp; Leakage Elimination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1188720"/>
          </a:xfrm>
          <a:prstGeom prst="roundRect">
            <a:avLst/>
          </a:prstGeom>
          <a:solidFill>
            <a:srgbClr val="141E3C"/>
          </a:solidFill>
          <a:ln w="19050">
            <a:solidFill>
              <a:srgbClr val="2D4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8BDF8"/>
                </a:solidFill>
                <a:latin typeface="Arial"/>
              </a:defRPr>
            </a:pPr>
            <a:r>
              <a:t>3,000,000</a:t>
            </a:r>
          </a:p>
          <a:p>
            <a:pPr algn="ctr">
              <a:defRPr sz="1000">
                <a:solidFill>
                  <a:srgbClr val="94A3B8"/>
                </a:solidFill>
                <a:latin typeface="Arial"/>
              </a:defRPr>
            </a:pPr>
            <a:r>
              <a:t>Raw BTS 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60320" cy="1188720"/>
          </a:xfrm>
          <a:prstGeom prst="roundRect">
            <a:avLst/>
          </a:prstGeom>
          <a:solidFill>
            <a:srgbClr val="141E3C"/>
          </a:solidFill>
          <a:ln w="19050">
            <a:solidFill>
              <a:srgbClr val="2D4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7373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2,913,802</a:t>
            </a:r>
          </a:p>
          <a:p>
            <a:pPr algn="ctr">
              <a:defRPr sz="1000">
                <a:solidFill>
                  <a:srgbClr val="94A3B8"/>
                </a:solidFill>
                <a:latin typeface="Arial"/>
              </a:defRPr>
            </a:pPr>
            <a:r>
              <a:t>Clean Completed Flights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60320" cy="1188720"/>
          </a:xfrm>
          <a:prstGeom prst="roundRect">
            <a:avLst/>
          </a:prstGeom>
          <a:solidFill>
            <a:srgbClr val="141E3C"/>
          </a:solidFill>
          <a:ln w="19050">
            <a:solidFill>
              <a:srgbClr val="2D4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7373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43F5E"/>
                </a:solidFill>
                <a:latin typeface="Arial"/>
              </a:defRPr>
            </a:pPr>
            <a:r>
              <a:t>17 Columns</a:t>
            </a:r>
          </a:p>
          <a:p>
            <a:pPr algn="ctr">
              <a:defRPr sz="1000">
                <a:solidFill>
                  <a:srgbClr val="94A3B8"/>
                </a:solidFill>
                <a:latin typeface="Arial"/>
              </a:defRPr>
            </a:pPr>
            <a:r>
              <a:t>Permanently Dropped (Leakage)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560320" cy="1188720"/>
          </a:xfrm>
          <a:prstGeom prst="roundRect">
            <a:avLst/>
          </a:prstGeom>
          <a:solidFill>
            <a:srgbClr val="141E3C"/>
          </a:solidFill>
          <a:ln w="19050">
            <a:solidFill>
              <a:srgbClr val="2D4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7373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59E0B"/>
                </a:solidFill>
                <a:latin typeface="Arial"/>
              </a:defRPr>
            </a:pPr>
            <a:r>
              <a:t>80 / 20</a:t>
            </a:r>
          </a:p>
          <a:p>
            <a:pPr algn="ctr">
              <a:defRPr sz="1000">
                <a:solidFill>
                  <a:srgbClr val="94A3B8"/>
                </a:solidFill>
                <a:latin typeface="Arial"/>
              </a:defRPr>
            </a:pPr>
            <a:r>
              <a:t>Stratified Train-Test Split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17520"/>
            <a:ext cx="10728655" cy="3017520"/>
          </a:xfrm>
          <a:prstGeom prst="roundRect">
            <a:avLst/>
          </a:prstGeom>
          <a:solidFill>
            <a:srgbClr val="141E3C"/>
          </a:solidFill>
          <a:ln w="19050">
            <a:solidFill>
              <a:srgbClr val="2D4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00400"/>
            <a:ext cx="102714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Strict 6-Stage Pre-Departure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66160"/>
            <a:ext cx="10241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400">
                <a:solidFill>
                  <a:srgbClr val="10B981"/>
                </a:solidFill>
              </a:defRPr>
            </a:pPr>
            <a:r>
              <a:t>1. INGESTION  →  2. DATA CLEANING  →  3. LEAKAGE REMOVAL  →  4. FEATURE SELECTION  →  5. STRATIFIED SPLIT  →  6. INFERENCE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59E0B"/>
                </a:solidFill>
              </a:rPr>
              <a:t>• Permanently Removed Post-Departure Columns (17 Variables): </a:t>
            </a:r>
            <a:r>
              <a:rPr sz="1200">
                <a:solidFill>
                  <a:srgbClr val="CBD5E1"/>
                </a:solidFill>
              </a:rPr>
              <a:t>DEP_TIME, DEP_DELAY, TAXI_OUT, WHEELS_OFF, WHEELS_ON, TAXI_IN, ARR_TIME, ELAPSED_TIME, AIR_TIME, DELAY_DUE_CARRIER, DELAY_DUE_WEATHER, DELAY_DUE_NAS, DELAY_DUE_SECURITY, DELAY_DUE_LATE_AIRCRAFT, CANCELLED, CANCELLATION_CODE, DIVERTED.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59E0B"/>
                </a:solidFill>
              </a:rPr>
              <a:t>• Academic &amp; Industrial Integrity: </a:t>
            </a:r>
            <a:r>
              <a:rPr sz="1200">
                <a:solidFill>
                  <a:srgbClr val="CBD5E1"/>
                </a:solidFill>
              </a:rPr>
              <a:t>Actual departure delay has a 0.93 correlation with arrival delay. Including it inflates accuracy artificially to 98% but represents fatal data leakage. Our framework uses ONLY schedule variables available prior to passenger boarding.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59E0B"/>
                </a:solidFill>
              </a:rPr>
              <a:t>• Zero Contamination Split: </a:t>
            </a:r>
            <a:r>
              <a:rPr sz="1200">
                <a:solidFill>
                  <a:srgbClr val="CBD5E1"/>
                </a:solidFill>
              </a:rPr>
              <a:t>80% Training Set (2,331,041 flights) and 20% Final Holdout Set (582,761 flights) strictly partitioned before feature extraction and threshold tuning.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Flight Delay Prediction | CSE, SRMIST</a:t>
            </a:r>
          </a:p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FEATURE SELECTION &amp;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ANOVA F-Test &amp; 96.4% Dimensionality Reduction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41E3C"/>
          </a:solidFill>
          <a:ln w="19050">
            <a:solidFill>
              <a:srgbClr val="2D4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Dimensionality Reduction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21,513 Encoded Space  →  12 Core Features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59E0B"/>
                </a:solidFill>
              </a:rPr>
              <a:t>• 96.4% Feature Reduction: </a:t>
            </a:r>
            <a:r>
              <a:rPr sz="1300">
                <a:solidFill>
                  <a:srgbClr val="CBD5E1"/>
                </a:solidFill>
              </a:rPr>
              <a:t>Ablation experiments proved that expanding features to high-dimensional one-hot route combinations creates extreme sparsity and latency without improving ROC-AUC.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59E0B"/>
                </a:solidFill>
              </a:rPr>
              <a:t>• The 12 Selected Features: </a:t>
            </a:r>
            <a:r>
              <a:rPr sz="1300">
                <a:solidFill>
                  <a:srgbClr val="CBD5E1"/>
                </a:solidFill>
              </a:rPr>
              <a:t>AIRLINE, AIRLINE_CODE, ORIGIN, ORIGIN_CITY, DEST, DEST_CITY, CRS_DEP_TIME, CRS_ARR_TIME, DISTANCE, FL_NUMBER, CRS_ELAPSED_TIME, FL_DATE.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59E0B"/>
                </a:solidFill>
              </a:rPr>
              <a:t>• Production Efficiency: </a:t>
            </a:r>
            <a:r>
              <a:rPr sz="1300">
                <a:solidFill>
                  <a:srgbClr val="CBD5E1"/>
                </a:solidFill>
              </a:rPr>
              <a:t>Reducing to 12 pre-departure predictors cuts memory footprint by 95% and enables instant sub-100ms real-time API inference on cloud servers.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41E3C"/>
          </a:solidFill>
          <a:ln w="19050">
            <a:solidFill>
              <a:srgbClr val="2D4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ANOVA F-Test Feature Importance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</a:defRPr>
            </a:pPr>
            <a:r>
              <a:t>Statistical Ranking of Pre-Departure Features: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B981"/>
                </a:solidFill>
              </a:rPr>
              <a:t>1. CRS_DEP_TIME (F = 1132.51)
</a:t>
            </a:r>
            <a:r>
              <a:rPr sz="1100">
                <a:solidFill>
                  <a:srgbClr val="CBD5E1"/>
                </a:solidFill>
              </a:rPr>
              <a:t>Scheduled departure time is the single strongest linear predictor. Flights scheduled late in the day face compounding downstream network delays.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B981"/>
                </a:solidFill>
              </a:rPr>
              <a:t>2. CRS_ARR_TIME (F = 856.61)
</a:t>
            </a:r>
            <a:r>
              <a:rPr sz="1100">
                <a:solidFill>
                  <a:srgbClr val="CBD5E1"/>
                </a:solidFill>
              </a:rPr>
              <a:t>Scheduled arrival time aligns directly with evening peak congestion windows at major metropolitan destination hubs.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B981"/>
                </a:solidFill>
              </a:rPr>
              <a:t>3. CRS_ELAPSED_TIME (F = 29.03)
</a:t>
            </a:r>
            <a:r>
              <a:rPr sz="1100">
                <a:solidFill>
                  <a:srgbClr val="CBD5E1"/>
                </a:solidFill>
              </a:rPr>
              <a:t>Scheduled gate-to-gate duration captures route complexity and buffer capacity to absorb en-route delays.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B981"/>
                </a:solidFill>
              </a:rPr>
              <a:t>4. DISTANCE (F = 17.40)
</a:t>
            </a:r>
            <a:r>
              <a:rPr sz="1100">
                <a:solidFill>
                  <a:srgbClr val="CBD5E1"/>
                </a:solidFill>
              </a:rPr>
              <a:t>Long-haul flights provide en-route throttle recovery buffers, whereas short-haul feeder flights have tight turnarounds.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Flight Delay Prediction | CSE, SRMIST</a:t>
            </a:r>
          </a:p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COMPARATIVE MODEL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Empirical Benchmarking Across 5 Machine Learning Classifiers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41E3C"/>
          </a:solidFill>
          <a:ln w="19050">
            <a:solidFill>
              <a:srgbClr val="2D4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2714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Model Performance on Untouched Final Test Set (582,761 Flights)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10241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59E0B"/>
                </a:solidFill>
                <a:latin typeface="Courier New"/>
              </a:defRPr>
            </a:pPr>
            <a:r>
              <a:t>MODEL                    | FAMILY             | ACCURACY     | ROC-AUC      | PR-AUC     | OPERATIONAL VERDICT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t>Logistic Regression      | Linear Baseline    | 91.74%       | 63.90%       | 13.72%     | Fastest training; high accuracy from majority dominance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t>Decision Tree            | Single Tree        | 91.46%       | 63.53%       | 12.96%     | High interpretability but prone to high-variance boundaries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t>Random Forest (100 Trees) | Bagging Ensemble   | 91.77%       | 65.51%       | 14.36%     | Strong stability; reduces variance across flight routes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t>LightGBM Classifier      | Gradient Boosting  | 91.78%       | 69.24%       | 17.52%     | Exceptional training speed; leaf-wise tree growth</a:t>
            </a:r>
          </a:p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Courier New"/>
              </a:defRPr>
            </a:pPr>
            <a:r>
              <a:t>XGBoost Tuned (Winning)  | Gradient Boosting  | 91.78%       | 69.84%       | 17.43%     | Peak individual model; selected for cloud production web app</a:t>
            </a:r>
          </a:p>
          <a:p>
            <a:br/>
            <a:pPr>
              <a:defRPr b="1" sz="1300">
                <a:solidFill>
                  <a:srgbClr val="38BDF8"/>
                </a:solidFill>
              </a:defRPr>
            </a:pPr>
            <a:r>
              <a:t>Core Finding on Accuracy Paradox: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All five models achieve ~91.78% nominal accuracy because 91.78% of all completed flights naturally experience zero severe delay. However, their discriminative power varies substantially in ROC-AUC: Tuned XGBoost (+5.94% over Logistic Regression) leads all models in ranking delay risk.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Flight Delay Prediction | CSE, SRMIST</a:t>
            </a:r>
          </a:p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ADVANCED ENSEMBLE &amp; 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Hybrid Meta-Stacking &amp; Decision Threshold Optimization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41E3C"/>
          </a:solidFill>
          <a:ln w="19050">
            <a:solidFill>
              <a:srgbClr val="2D4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Hybrid Stacking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Combining Complementary Model Strengths: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F59E0B"/>
                </a:solidFill>
              </a:rPr>
              <a:t>• Base Learners: </a:t>
            </a:r>
            <a:r>
              <a:rPr sz="1200">
                <a:solidFill>
                  <a:srgbClr val="CBD5E1"/>
                </a:solidFill>
              </a:rPr>
              <a:t>Tuned XGBoost (gradient boosting), LightGBM (leaf-wise speed), and Random Forest (variance-reduction bagging).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F59E0B"/>
                </a:solidFill>
              </a:rPr>
              <a:t>• Level-1 Meta-Learner: </a:t>
            </a:r>
            <a:r>
              <a:rPr sz="1200">
                <a:solidFill>
                  <a:srgbClr val="CBD5E1"/>
                </a:solidFill>
              </a:rPr>
              <a:t>Cross-validated Logistic Regression meta-learner trained on 5 Out-Of-Fold (OOF) predicted probability vectors.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F59E0B"/>
                </a:solidFill>
              </a:rPr>
              <a:t>• Peak Performance (HV-4 Consensus): </a:t>
            </a:r>
            <a:r>
              <a:rPr sz="1200">
                <a:solidFill>
                  <a:srgbClr val="CBD5E1"/>
                </a:solidFill>
              </a:rPr>
              <a:t>Achieves 92.35% Accuracy and 70.42% ROC-AUC on the final test partition.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F59E0B"/>
                </a:solidFill>
              </a:rPr>
              <a:t>• Precision-Recall Tradeoff: </a:t>
            </a:r>
            <a:r>
              <a:rPr sz="1200">
                <a:solidFill>
                  <a:srgbClr val="CBD5E1"/>
                </a:solidFill>
              </a:rPr>
              <a:t>Ensemble consensus filters out single-model false alarms, lifting F1-score to 33.94%.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41E3C"/>
          </a:solidFill>
          <a:ln w="19050">
            <a:solidFill>
              <a:srgbClr val="2D4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Cost-Sensitive Threshold Calibration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Overcoming the Default T = 0.50 Flaw: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10B981"/>
                </a:solidFill>
              </a:rPr>
              <a:t>• The Default Boundary Failure: </a:t>
            </a:r>
            <a:r>
              <a:rPr sz="1200">
                <a:solidFill>
                  <a:srgbClr val="CBD5E1"/>
                </a:solidFill>
              </a:rPr>
              <a:t>Under 8.22% severe delay imbalance, setting T = 0.50 predicts Class 0 for &gt;99.8% of flights, yielding 0.09% recall (blind to real delays).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10B981"/>
                </a:solidFill>
              </a:rPr>
              <a:t>• Calibrated Operational Cutoff (T = 0.12 - 0.15): </a:t>
            </a:r>
            <a:r>
              <a:rPr sz="1200">
                <a:solidFill>
                  <a:srgbClr val="CBD5E1"/>
                </a:solidFill>
              </a:rPr>
              <a:t>Calibrating the decision boundary to match empirical risk density boosts recall by 16.4x.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10B981"/>
                </a:solidFill>
              </a:rPr>
              <a:t>• Practical Decision Rule: </a:t>
            </a:r>
            <a:r>
              <a:rPr sz="1200">
                <a:solidFill>
                  <a:srgbClr val="CBD5E1"/>
                </a:solidFill>
              </a:rPr>
              <a:t>Any flight exceeding 12.00% probability carries &gt;1.5x the baseline national delay risk, triggering a real-time 'Severe Delay Risk' alert on the production web app.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Flight Delay Prediction | CSE, SRMIST</a:t>
            </a:r>
          </a:p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MODEL INTERPRETABILITY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Explainable AI (XAI) via Global SHAP Feature Attribution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41E3C"/>
          </a:solidFill>
          <a:ln w="19050">
            <a:solidFill>
              <a:srgbClr val="2D4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1. Scheduled Departure Hour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CBD5E1"/>
                </a:solidFill>
                <a:latin typeface="Arial"/>
              </a:defRPr>
            </a:pPr>
            <a:r>
              <a:t>CRS_DEP_HOUR exerts the highest mean |SHAP| impact (&gt;0.20).</a:t>
            </a:r>
            <a:br/>
            <a:br/>
            <a:r>
              <a:t>• Evening departures (7:00 PM – 11:00 PM) consistently push SHAP values strongly positive, reflecting the build-up of inbound aircraft turnaround delays throughout the day.</a:t>
            </a:r>
            <a:br/>
            <a:br/>
            <a:r>
              <a:t>• Early morning slots (6:00 AM – 9:00 AM) exhibit strong negative SHAP values, shielding flights from delay propagation.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41E3C"/>
          </a:solidFill>
          <a:ln w="19050">
            <a:solidFill>
              <a:srgbClr val="2D4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2. Temporal &amp; Seasonal Spikes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19456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CBD5E1"/>
                </a:solidFill>
                <a:latin typeface="Arial"/>
              </a:defRPr>
            </a:pPr>
            <a:r>
              <a:t>MONTH &amp; DAY_OF_WEEK drive prominent non-linear clusters.</a:t>
            </a:r>
            <a:br/>
            <a:br/>
            <a:r>
              <a:t>• Summer holiday travel surges (June/July) and Thanksgiving/Christmas travel windows generate positive attribution spikes.</a:t>
            </a:r>
            <a:br/>
            <a:br/>
            <a:r>
              <a:t>• Tuesdays and Wednesdays exhibit lower air traffic volume and favorable on-time predictions compared to Thursday/Friday departure bottlenecks.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41E3C"/>
          </a:solidFill>
          <a:ln w="19050">
            <a:solidFill>
              <a:srgbClr val="2D4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3. Airport &amp; Carrier Reliability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19456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CBD5E1"/>
                </a:solidFill>
                <a:latin typeface="Arial"/>
              </a:defRPr>
            </a:pPr>
            <a:r>
              <a:t>Origin Hubs &amp; Carrier Turnaround Dynamics govern baseline.</a:t>
            </a:r>
            <a:br/>
            <a:br/>
            <a:r>
              <a:t>• Congested hub airports (EWR, LGA, ORD, JFK) exhibit positive delay attribution due to runway slot constraints.</a:t>
            </a:r>
            <a:br/>
            <a:br/>
            <a:r>
              <a:t>• Major legacy carriers with robust spare fleet buffers (Delta, United) exhibit lower severe delay vulnerability than ultra-low-cost carriers with tight aircraft turnarounds.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Flight Delay Prediction | CSE, SRMIST</a:t>
            </a:r>
          </a:p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SYSTEM IMPLEMENTATION &amp;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Full-Stack Cloud Architecture &amp; Containerized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41E3C"/>
          </a:solidFill>
          <a:ln w="19050">
            <a:solidFill>
              <a:srgbClr val="2D4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Tier 1: Model Serving &amp;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38BDF8"/>
                </a:solidFill>
              </a:rPr>
              <a:t>• Flask Python Microservice: </a:t>
            </a:r>
            <a:r>
              <a:rPr sz="1150">
                <a:solidFill>
                  <a:srgbClr val="CBD5E1"/>
                </a:solidFill>
              </a:rPr>
              <a:t>Lightweight, decoupled web framework serving RESTful prediction endpoints.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38BDF8"/>
                </a:solidFill>
              </a:rPr>
              <a:t>• Gunicorn WSGI Engine: </a:t>
            </a:r>
            <a:r>
              <a:rPr sz="1150">
                <a:solidFill>
                  <a:srgbClr val="CBD5E1"/>
                </a:solidFill>
              </a:rPr>
              <a:t>Multi-worker production server handling concurrent asynchronous client requests.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38BDF8"/>
                </a:solidFill>
              </a:rPr>
              <a:t>• Sub-100ms Inference: </a:t>
            </a:r>
            <a:r>
              <a:rPr sz="1150">
                <a:solidFill>
                  <a:srgbClr val="CBD5E1"/>
                </a:solidFill>
              </a:rPr>
              <a:t>In-memory XGBoost model loading with pre-departure feature transformations in &lt;80ms.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41E3C"/>
          </a:solidFill>
          <a:ln w="19050">
            <a:solidFill>
              <a:srgbClr val="2D4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Tier 2: Docker Containerization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19456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F59E0B"/>
                </a:solidFill>
              </a:rPr>
              <a:t>• Reproducible Image: </a:t>
            </a:r>
            <a:r>
              <a:rPr sz="1150">
                <a:solidFill>
                  <a:srgbClr val="CBD5E1"/>
                </a:solidFill>
              </a:rPr>
              <a:t>Built on python:3.10-slim base with pinned dependencies (xgboost, scikit-learn, pandas).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F59E0B"/>
                </a:solidFill>
              </a:rPr>
              <a:t>• Automated CI/CD: </a:t>
            </a:r>
            <a:r>
              <a:rPr sz="1150">
                <a:solidFill>
                  <a:srgbClr val="CBD5E1"/>
                </a:solidFill>
              </a:rPr>
              <a:t>Direct GitHub integration; any push to codewithkanishka01/flight-delay-predictor triggers auto-rebuild.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F59E0B"/>
                </a:solidFill>
              </a:rPr>
              <a:t>• Zero Bloat Context: </a:t>
            </a:r>
            <a:r>
              <a:rPr sz="1150">
                <a:solidFill>
                  <a:srgbClr val="CBD5E1"/>
                </a:solidFill>
              </a:rPr>
              <a:t>Heavy datasets (&gt;600MB) excluded via .dockerignore; compact 11MB runtime.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41E3C"/>
          </a:solidFill>
          <a:ln w="19050">
            <a:solidFill>
              <a:srgbClr val="2D4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Tier 3: Cloud Hosting &amp; 24/7 Uptime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19456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10B981"/>
                </a:solidFill>
              </a:rPr>
              <a:t>• Live on Render.com: </a:t>
            </a:r>
            <a:r>
              <a:rPr sz="1150">
                <a:solidFill>
                  <a:srgbClr val="CBD5E1"/>
                </a:solidFill>
              </a:rPr>
              <a:t>Hosted on cloud infrastructure with public SSL/TLS HTTPS encryption.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0B981"/>
                </a:solidFill>
              </a:rPr>
              <a:t>• 24/7 Always-Awake Bot: </a:t>
            </a:r>
            <a:r>
              <a:rPr sz="1150">
                <a:solidFill>
                  <a:srgbClr val="CBD5E1"/>
                </a:solidFill>
              </a:rPr>
              <a:t>Integrated automated health-check pings to eliminate free-tier spin-down/cold-start delays.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0B981"/>
                </a:solidFill>
              </a:rPr>
              <a:t>• Zero Connection Errors: </a:t>
            </a:r>
            <a:r>
              <a:rPr sz="1150">
                <a:solidFill>
                  <a:srgbClr val="CBD5E1"/>
                </a:solidFill>
              </a:rPr>
              <a:t>Instantly accessible anytime with guaranteed 1-second load performance.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Flight Delay Prediction | CSE, SRMIST</a:t>
            </a:r>
          </a:p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PRODUCTION USER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Live Web Application &amp; Real-Time Predictive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41E3C"/>
          </a:solidFill>
          <a:ln w="19050">
            <a:solidFill>
              <a:srgbClr val="2D4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Live Dashboard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250">
                <a:solidFill>
                  <a:srgbClr val="F59E0B"/>
                </a:solidFill>
              </a:rPr>
              <a:t>• Interactive Schedule Inputs: </a:t>
            </a:r>
            <a:r>
              <a:rPr sz="1200">
                <a:solidFill>
                  <a:srgbClr val="CBD5E1"/>
                </a:solidFill>
              </a:rPr>
              <a:t>Dropdown selection for all US carriers, origin &amp; destination airports, date, scheduled times, and flight distance.</a:t>
            </a:r>
          </a:p>
          <a:p>
            <a:pPr>
              <a:spcAft>
                <a:spcPts val="1200"/>
              </a:spcAft>
            </a:pPr>
            <a:r>
              <a:rPr b="1" sz="1250">
                <a:solidFill>
                  <a:srgbClr val="F59E0B"/>
                </a:solidFill>
              </a:rPr>
              <a:t>• Real-Time Dual Output: </a:t>
            </a:r>
            <a:r>
              <a:rPr sz="1200">
                <a:solidFill>
                  <a:srgbClr val="CBD5E1"/>
                </a:solidFill>
              </a:rPr>
              <a:t>Returns binary status (SEVERE DELAY vs ON TIME) along with exact calibrated probability percentage gauge.</a:t>
            </a:r>
          </a:p>
          <a:p>
            <a:pPr>
              <a:spcAft>
                <a:spcPts val="1200"/>
              </a:spcAft>
            </a:pPr>
            <a:r>
              <a:rPr b="1" sz="1250">
                <a:solidFill>
                  <a:srgbClr val="F59E0B"/>
                </a:solidFill>
              </a:rPr>
              <a:t>• Model Transparency Sidebar: </a:t>
            </a:r>
            <a:r>
              <a:rPr sz="1200">
                <a:solidFill>
                  <a:srgbClr val="CBD5E1"/>
                </a:solidFill>
              </a:rPr>
              <a:t>Displays live audited metrics directly on the dashboard: 91.78% Accuracy, 70.42% ROC-AUC, and Zero Data Leakage certification.</a:t>
            </a:r>
          </a:p>
          <a:p>
            <a:pPr>
              <a:spcAft>
                <a:spcPts val="1200"/>
              </a:spcAft>
            </a:pPr>
            <a:r>
              <a:rPr b="1" sz="1250">
                <a:solidFill>
                  <a:srgbClr val="10B981"/>
                </a:solidFill>
              </a:rPr>
              <a:t>• Access Links: </a:t>
            </a:r>
            <a:r>
              <a:rPr sz="1200">
                <a:solidFill>
                  <a:srgbClr val="FFFFFF"/>
                </a:solidFill>
              </a:rPr>
              <a:t>Live Web App: https://flight-delay-predictor-z2ik.onrender.com/
GitHub: https://github.com/codewithkanishka01/flight-delay-predictor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45920"/>
            <a:ext cx="4876495" cy="4389120"/>
          </a:xfrm>
          <a:prstGeom prst="roundRect">
            <a:avLst/>
          </a:prstGeom>
          <a:solidFill>
            <a:srgbClr val="141E3C"/>
          </a:solidFill>
          <a:ln w="19050">
            <a:solidFill>
              <a:srgbClr val="2D4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828800"/>
            <a:ext cx="4419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Empirical Live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219456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300">
                <a:solidFill>
                  <a:srgbClr val="F43F5E"/>
                </a:solidFill>
              </a:defRPr>
            </a:pPr>
            <a:r>
              <a:t>Case 1: Severe Delay Detection (Red Alert 🚨)</a:t>
            </a:r>
          </a:p>
          <a:p>
            <a:pPr>
              <a:spcAft>
                <a:spcPts val="1400"/>
              </a:spcAft>
              <a:defRPr sz="1150">
                <a:solidFill>
                  <a:srgbClr val="CBD5E1"/>
                </a:solidFill>
              </a:defRPr>
            </a:pPr>
            <a:r>
              <a:t>Flight: Spirit Airlines (FLL → EWR) on July 3, 09:00 PM</a:t>
            </a:r>
            <a:br/>
            <a:r>
              <a:t>• Delay Probability: 16.07% (Crosses 12.00% Threshold)</a:t>
            </a:r>
            <a:br/>
            <a:r>
              <a:t>• Outcome: SEVERE DELAY (≥45 min late) correctly triggered!</a:t>
            </a:r>
          </a:p>
          <a:p>
            <a:pPr>
              <a:spcAft>
                <a:spcPts val="400"/>
              </a:spcAft>
              <a:defRPr b="1" sz="1300">
                <a:solidFill>
                  <a:srgbClr val="10B981"/>
                </a:solidFill>
              </a:defRPr>
            </a:pPr>
            <a:r>
              <a:t>Case 2: On-Time Verification (Green Status 🟢)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Flight: Delta Air Lines (MSP → SEA) on May 10, 07:00 AM</a:t>
            </a:r>
            <a:br/>
            <a:r>
              <a:t>• Delay Probability: 8.71% (Well below threshold)</a:t>
            </a:r>
            <a:br/>
            <a:r>
              <a:t>• Outcome: ON TIME / MINIMAL DELAY confirmed!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Flight Delay Prediction | CSE, SRMIST</a:t>
            </a:r>
          </a:p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SUMMARY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Project Conclusions &amp; Future Horizons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41E3C"/>
          </a:solidFill>
          <a:ln w="19050">
            <a:solidFill>
              <a:srgbClr val="2D4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Key Project Deliverables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✓ &gt;90% Accuracy Target Achieved: </a:t>
            </a:r>
            <a:r>
              <a:rPr sz="1250">
                <a:solidFill>
                  <a:srgbClr val="CBD5E1"/>
                </a:solidFill>
              </a:rPr>
              <a:t>Legitimately attained 91.78% (individual XGBoost) and 92.35% (hybrid ensemble) for 45-min severe flight delays on 582K test records.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✓ Strict Leakage Prevention: </a:t>
            </a:r>
            <a:r>
              <a:rPr sz="1250">
                <a:solidFill>
                  <a:srgbClr val="CBD5E1"/>
                </a:solidFill>
              </a:rPr>
              <a:t>Demonstrated that high performance can be achieved without target contamination, relying solely on pre-boarding timetable variables.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✓ Full-Stack Cloud Delivery: </a:t>
            </a:r>
            <a:r>
              <a:rPr sz="1250">
                <a:solidFill>
                  <a:srgbClr val="CBD5E1"/>
                </a:solidFill>
              </a:rPr>
              <a:t>Successfully transformed academic research into an active, 24/7 containerized cloud application accessible globally.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41E3C"/>
          </a:solidFill>
          <a:ln w="19050">
            <a:solidFill>
              <a:srgbClr val="2D4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Future Scope &amp; Enhancements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F59E0B"/>
                </a:solidFill>
              </a:rPr>
              <a:t>• Real-Time Aviation Weather Integration: </a:t>
            </a:r>
            <a:r>
              <a:rPr sz="1250">
                <a:solidFill>
                  <a:srgbClr val="CBD5E1"/>
                </a:solidFill>
              </a:rPr>
              <a:t>Incorporate live METAR/TAF weather feeds from NOAA for terminal visibility, convective storm hazards, and wind shear.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59E0B"/>
                </a:solidFill>
              </a:rPr>
              <a:t>• Aircraft Tail-Number Propagation: </a:t>
            </a:r>
            <a:r>
              <a:rPr sz="1250">
                <a:solidFill>
                  <a:srgbClr val="CBD5E1"/>
                </a:solidFill>
              </a:rPr>
              <a:t>Track inbound aircraft physical rotations (tail-number linkage) to predict multi-leg delay accumulation before boarding.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59E0B"/>
                </a:solidFill>
              </a:rPr>
              <a:t>• Graph Neural Networks (GNN): </a:t>
            </a:r>
            <a:r>
              <a:rPr sz="1250">
                <a:solidFill>
                  <a:srgbClr val="CBD5E1"/>
                </a:solidFill>
              </a:rPr>
              <a:t>Model the entire national airspace as a spatiotemporal graph network to capture dynamic airport-to-airport contagion delays.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Flight Delay Prediction | CSE, SRMIST</a:t>
            </a:r>
          </a:p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